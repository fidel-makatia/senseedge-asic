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C6EF5"/>
                </a:solidFill>
                <a:latin typeface="Arial"/>
              </a:defRPr>
            </a:pPr>
            <a:r>
              <a:t>SenseEdge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Predictive Maintenance ASIC with Hardware FFT &amp; Neural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Arial"/>
              </a:defRPr>
            </a:pPr>
            <a:r>
              <a:t>Open-Source Custom Silicon on SkyWater SKY130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Fidel Makatia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PhD Student, Analog &amp; Mixed-Signal IC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6EF5"/>
                </a:solidFill>
                <a:latin typeface="Arial"/>
              </a:defRPr>
            </a:pPr>
            <a:r>
              <a:t>ChipFoundry Reference Application Design Contest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9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621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39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Unplanned equipment downtime costs $50B/year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Commercial vibration sensors: $500 - $5,000 per node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Cloud-dependent ML adds latency &amp; recurring costs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Fixed-threshold alerting = excessive false alarms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t>90% of factories can't afford predictive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C6EF5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39621"/>
                </a:solidFill>
                <a:latin typeface="Arial"/>
              </a:defRPr>
            </a:pPr>
            <a:r>
              <a:t>$50B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Annual downtime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  <a:latin typeface="Arial"/>
              </a:defRPr>
            </a:pPr>
            <a:r>
              <a:t>$30B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Predictive maintenance market by 2028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  <a:latin typeface="Arial"/>
              </a:defRPr>
            </a:pPr>
            <a:r>
              <a:t>The Solution: Full Pipeline in Silicon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011680" cy="1645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54864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6EF5"/>
                </a:solidFill>
                <a:latin typeface="Arial"/>
              </a:defRPr>
            </a:pPr>
            <a:r>
              <a:t>SPI ADC</a:t>
            </a:r>
            <a:br/>
            <a: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12-bit</a:t>
            </a:r>
            <a:br/>
            <a:r>
              <a:t>100 kSPS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6EF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828800"/>
            <a:ext cx="2011680" cy="1645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2011680" cy="54864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6EF5"/>
                </a:solidFill>
                <a:latin typeface="Arial"/>
              </a:defRPr>
            </a:pPr>
            <a:r>
              <a:t>64-Point</a:t>
            </a:r>
            <a:br/>
            <a:r>
              <a:t>FFT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Radix-2 DIT</a:t>
            </a:r>
            <a:br/>
            <a:r>
              <a:t>24-bit internal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6EF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828800"/>
            <a:ext cx="2011680" cy="1645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828800"/>
            <a:ext cx="2011680" cy="54864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6EF5"/>
                </a:solidFill>
                <a:latin typeface="Arial"/>
              </a:defRPr>
            </a:pPr>
            <a:r>
              <a:t>Feature</a:t>
            </a:r>
            <a:br/>
            <a:r>
              <a:t>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8 spectral</a:t>
            </a:r>
            <a:br/>
            <a: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6EF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828800"/>
            <a:ext cx="2011680" cy="1645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828800"/>
            <a:ext cx="2011680" cy="54864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6EF5"/>
                </a:solidFill>
                <a:latin typeface="Arial"/>
              </a:defRPr>
            </a:pPr>
            <a:r>
              <a:t>Neural Net</a:t>
            </a:r>
            <a:br/>
            <a:r>
              <a:t>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8→16→4 FC</a:t>
            </a:r>
            <a:br/>
            <a:r>
              <a:t>INT8, ReLU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C6EF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828800"/>
            <a:ext cx="2011680" cy="1645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1828800"/>
            <a:ext cx="2011680" cy="54864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965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6EF5"/>
                </a:solidFill>
                <a:latin typeface="Arial"/>
              </a:defRPr>
            </a:pPr>
            <a:r>
              <a:t>Alarm</a:t>
            </a:r>
            <a:br/>
            <a:r>
              <a:t>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Arial"/>
              </a:defRPr>
            </a:pPr>
            <a:r>
              <a:t>GPIO + IRQ</a:t>
            </a:r>
            <a:br/>
            <a:r>
              <a:t>to RISC-V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31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&lt; 10 μs inference latency (192 MACs at 20 MHz)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Zero CPU intervention — fully autonomous pipeline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212 runtime-loadable INT8 weights (field-updateable)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&lt; 5 mW total power at 1.8V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6EF5"/>
                </a:solidFill>
                <a:latin typeface="Arial"/>
              </a:defRPr>
            </a:pPr>
            <a:r>
              <a:t>Cost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572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555"/>
                </a:solidFill>
                <a:latin typeface="Arial"/>
              </a:defRPr>
            </a:pPr>
            <a:r>
              <a:t>Commercial</a:t>
            </a:r>
            <a:br/>
            <a:r>
              <a:t>$500-$5,000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572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Arial"/>
              </a:defRPr>
            </a:pPr>
            <a:r>
              <a:t>SenseEdge</a:t>
            </a:r>
            <a:br/>
            <a:r>
              <a:t>~$13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621"/>
                </a:solidFill>
                <a:latin typeface="Arial"/>
              </a:defRPr>
            </a:pPr>
            <a:r>
              <a:t>20-300x cost reduction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C6EF5"/>
                </a:solidFill>
                <a:latin typeface="Arial"/>
              </a:defRPr>
            </a:pPr>
            <a:r>
              <a:t>Silicon Design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20040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6EF5"/>
                </a:solidFill>
                <a:latin typeface="Arial"/>
              </a:defRPr>
            </a:pPr>
            <a:r>
              <a:t>Hardening Results (LibreLane 2.4.6)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Process: SkyWater SKY130 (130nm)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Gate count: 44,409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Die area: 2920 × 2500 μm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Clock: 20 MHz (50ns period)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DRC: CLEAN | LVS: CLEAN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Setup slack (typical): +6.66 ns 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Arial"/>
              </a:defRPr>
            </a:pPr>
            <a:r>
              <a:t>Verification (46 assertions, 0 failures)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SPI ADC Interface — PASS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64-Point FFT Engine — PASS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Feature Extraction — PASS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Neural Network Engine — PASS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Alarm Logic — PASS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Wishbone Interface — PASS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Full Integration — PASS</a:t>
            </a:r>
          </a:p>
        </p:txBody>
      </p:sp>
      <p:pic>
        <p:nvPicPr>
          <p:cNvPr id="11" name="Picture 10" descr="gl_simu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10972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C6EF5"/>
                </a:solidFill>
                <a:latin typeface="Arial"/>
              </a:defRPr>
            </a:pPr>
            <a:r>
              <a:t>PCB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cb_kicad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6EF5"/>
                </a:solidFill>
                <a:latin typeface="Arial"/>
              </a:defRPr>
            </a:pPr>
            <a:r>
              <a:t>Key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U3: Caravel ASIC (QFN-64)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U2: ADXL326 3-axis accelerometer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J1: MCP3201 12-bit SPI ADC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U1: ESP32-C3 WiFi/BLE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U4: W25Q32 SPI Flash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Y1: 20 MHz CMOS oscillator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J2: USB-C power input</a:t>
            </a:r>
          </a:p>
        </p:txBody>
      </p:sp>
      <p:pic>
        <p:nvPicPr>
          <p:cNvPr id="9" name="Picture 8" descr="kicad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54880"/>
            <a:ext cx="5486400" cy="1828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0" y="4754880"/>
            <a:ext cx="5029200" cy="1828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6EF5"/>
                </a:solidFill>
                <a:latin typeface="Arial"/>
              </a:defRPr>
            </a:pPr>
            <a:r>
              <a:t>Board Specifications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3035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65mm × 45mm, 2-layer FR4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Total BOM: ~$13.15 at 100 units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Gerbers ready for fabrication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USB-C powered (5V input)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C6EF5"/>
                </a:solidFill>
                <a:latin typeface="Arial"/>
              </a:defRPr>
            </a:pPr>
            <a:r>
              <a:t>Mechanical Enclosure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n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486400" cy="3657600"/>
          </a:xfrm>
          <a:prstGeom prst="rect">
            <a:avLst/>
          </a:prstGeom>
        </p:spPr>
      </p:pic>
      <p:pic>
        <p:nvPicPr>
          <p:cNvPr id="6" name="Picture 5" descr="enclosure_withp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5303520"/>
            <a:ext cx="10698480" cy="128016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69.5 × 49.5 × 20mm — snap-fit design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IP54-rated dust &amp; splash protection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3D printed ASA/PETG — industrial temp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949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M3 mounting ears for equipment attachment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USB-C port cutout aligned to PCB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LED light pipe, ventilation slots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  <a:latin typeface="Arial"/>
              </a:defRPr>
            </a:pPr>
            <a:r>
              <a:t>Applications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6EF5"/>
                </a:solidFill>
                <a:latin typeface="Arial"/>
              </a:defRPr>
            </a:pPr>
            <a:r>
              <a:t>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Motor, pump, compressor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34747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3474720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6EF5"/>
                </a:solidFill>
                <a:latin typeface="Arial"/>
              </a:defRPr>
            </a:pPr>
            <a:r>
              <a:t>HVAC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Fan &amp; compressor health in buildings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34747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371600"/>
            <a:ext cx="3474720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6EF5"/>
                </a:solidFill>
                <a:latin typeface="Arial"/>
              </a:defRPr>
            </a:pPr>
            <a:r>
              <a:t>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Wind turbine gearbox monitoring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34747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17520"/>
            <a:ext cx="3474720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5467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6EF5"/>
                </a:solidFill>
                <a:latin typeface="Arial"/>
              </a:defRPr>
            </a:pPr>
            <a:r>
              <a:t>Structural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Bridge &amp; infrastructure vibration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017520"/>
            <a:ext cx="34747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017520"/>
            <a:ext cx="3474720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15467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6EF5"/>
                </a:solidFill>
                <a:latin typeface="Arial"/>
              </a:defRPr>
            </a:pPr>
            <a:r>
              <a:t>Transportation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Rail wheel &amp; axle bearing diagnostics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3017520"/>
            <a:ext cx="347472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3017520"/>
            <a:ext cx="3474720" cy="45720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315467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6EF5"/>
                </a:solidFill>
                <a:latin typeface="Arial"/>
              </a:defRPr>
            </a:pPr>
            <a:r>
              <a:t>Oil &amp; Gas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657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Downhole pump monitoring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39621"/>
                </a:solidFill>
                <a:latin typeface="Arial"/>
              </a:defRPr>
            </a:pPr>
            <a:r>
              <a:t>One Silicon, Every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Field-updateable neural network — 212 bytes of new weights transforms the sensor from motor monitoring to bridge health to HVAC diagnostics. No hardware changes, no re-tapeout.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C6EF5"/>
                </a:solidFill>
                <a:latin typeface="Arial"/>
              </a:defRPr>
            </a:pPr>
            <a:r>
              <a:t>SenseEdge — Complete Reference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2103120" cy="36576"/>
          </a:xfrm>
          <a:prstGeom prst="rect">
            <a:avLst/>
          </a:prstGeom>
          <a:solidFill>
            <a:srgbClr val="4C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32004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Arial"/>
              </a:defRPr>
            </a:pPr>
            <a:r>
              <a:t>Custom 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44K gates, DRC/LVS clean</a:t>
            </a:r>
            <a:br/>
            <a:r>
              <a:t>SKY130, 20 MHz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828800"/>
            <a:ext cx="32004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2004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7 testbenches, 46 assertions</a:t>
            </a:r>
            <a:br/>
            <a:r>
              <a:t>GL simulation confirmed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2004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32004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Arial"/>
              </a:defRPr>
            </a:pPr>
            <a:r>
              <a:t>PCB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65×45mm, 2-layer FR4</a:t>
            </a:r>
            <a:br/>
            <a:r>
              <a:t>Gerbers ready, ~$13 BOM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474720"/>
            <a:ext cx="32004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474720"/>
            <a:ext cx="32004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6118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Arial"/>
              </a:defRPr>
            </a:pPr>
            <a:r>
              <a:t>Enclosure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5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3D printable, IP54</a:t>
            </a:r>
            <a:br/>
            <a:r>
              <a:t>Snap-fit, USB-C cutout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474720"/>
            <a:ext cx="32004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474720"/>
            <a:ext cx="32004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6118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Arial"/>
              </a:defRPr>
            </a:pPr>
            <a:r>
              <a:t>Firmware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2335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RISC-V C firmware</a:t>
            </a:r>
            <a:br/>
            <a:r>
              <a:t>UART reporting, weight loading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474720"/>
            <a:ext cx="32004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474720"/>
            <a:ext cx="32004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6118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Arial"/>
              </a:defRPr>
            </a:pPr>
            <a:r>
              <a:t>ML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02335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TensorFlow QAT</a:t>
            </a:r>
            <a:br/>
            <a:r>
              <a:t>212 INT8 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Arial"/>
              </a:defRPr>
            </a:pPr>
            <a:r>
              <a:t>Fidel Makatia  |  ChipFoundry Reference Application Design Contest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6EF5"/>
                </a:solidFill>
                <a:latin typeface="Arial"/>
              </a:defRPr>
            </a:pPr>
            <a:r>
              <a:t>github.com/fidel-makatia/senseedge-asic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